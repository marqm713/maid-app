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14" r:id="rId5"/>
    <p:sldId id="329" r:id="rId6"/>
    <p:sldId id="334" r:id="rId7"/>
    <p:sldId id="343" r:id="rId8"/>
    <p:sldId id="339" r:id="rId9"/>
    <p:sldId id="341" r:id="rId10"/>
    <p:sldId id="322" r:id="rId11"/>
    <p:sldId id="338" r:id="rId12"/>
    <p:sldId id="328" r:id="rId13"/>
    <p:sldId id="323" r:id="rId14"/>
    <p:sldId id="325" r:id="rId15"/>
    <p:sldId id="34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16" userDrawn="1">
          <p15:clr>
            <a:srgbClr val="A4A3A4"/>
          </p15:clr>
        </p15:guide>
        <p15:guide id="2" orient="horz" pos="1008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DDFE"/>
    <a:srgbClr val="D4DDFE"/>
    <a:srgbClr val="D5DEFF"/>
    <a:srgbClr val="F6F7FF"/>
    <a:srgbClr val="DBDCE5"/>
    <a:srgbClr val="F0F1FB"/>
    <a:srgbClr val="DFE1F6"/>
    <a:srgbClr val="EEEFF5"/>
    <a:srgbClr val="DFE1EF"/>
    <a:srgbClr val="A9B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5394" autoAdjust="0"/>
  </p:normalViewPr>
  <p:slideViewPr>
    <p:cSldViewPr snapToGrid="0">
      <p:cViewPr varScale="1">
        <p:scale>
          <a:sx n="146" d="100"/>
          <a:sy n="146" d="100"/>
        </p:scale>
        <p:origin x="132" y="246"/>
      </p:cViewPr>
      <p:guideLst>
        <p:guide orient="horz" pos="1416"/>
        <p:guide orient="horz" pos="1008"/>
        <p:guide pos="3840"/>
      </p:guideLst>
    </p:cSldViewPr>
  </p:slideViewPr>
  <p:outlineViewPr>
    <p:cViewPr>
      <p:scale>
        <a:sx n="33" d="100"/>
        <a:sy n="33" d="100"/>
      </p:scale>
      <p:origin x="0" y="-1036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32BE22-BCF5-218A-BCDB-9D6463B9A4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C6B9B-3CD0-9D38-9EB7-8FC9403B85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62055-8DBD-6042-92AC-66DE479F90DE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5B14E-D4D7-1E40-CD23-AE797C2368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512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EE50A-AB77-49BE-9076-23C4C8D08BB2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09883-B744-4FDD-8623-D69A6665002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64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02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551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363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82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998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55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8233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3846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1060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7108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908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0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1185" y="629469"/>
            <a:ext cx="8961120" cy="5599062"/>
          </a:xfrm>
        </p:spPr>
        <p:txBody>
          <a:bodyPr lIns="0" tIns="0" rIns="0" bIns="0" anchor="ctr">
            <a:noAutofit/>
          </a:bodyPr>
          <a:lstStyle>
            <a:lvl1pPr mar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A65DB93-2357-6899-3DDD-DC79C877A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29533" y="5801722"/>
            <a:ext cx="2115210" cy="1056278"/>
          </a:xfrm>
          <a:custGeom>
            <a:avLst/>
            <a:gdLst>
              <a:gd name="connsiteX0" fmla="*/ 1057605 w 2115210"/>
              <a:gd name="connsiteY0" fmla="*/ 0 h 1056278"/>
              <a:gd name="connsiteX1" fmla="*/ 2109820 w 2115210"/>
              <a:gd name="connsiteY1" fmla="*/ 949535 h 1056278"/>
              <a:gd name="connsiteX2" fmla="*/ 2115210 w 2115210"/>
              <a:gd name="connsiteY2" fmla="*/ 1056278 h 1056278"/>
              <a:gd name="connsiteX3" fmla="*/ 0 w 2115210"/>
              <a:gd name="connsiteY3" fmla="*/ 1056278 h 1056278"/>
              <a:gd name="connsiteX4" fmla="*/ 5390 w 2115210"/>
              <a:gd name="connsiteY4" fmla="*/ 949535 h 1056278"/>
              <a:gd name="connsiteX5" fmla="*/ 1057605 w 2115210"/>
              <a:gd name="connsiteY5" fmla="*/ 0 h 105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5210" h="1056278">
                <a:moveTo>
                  <a:pt x="1057605" y="0"/>
                </a:moveTo>
                <a:cubicBezTo>
                  <a:pt x="1605234" y="0"/>
                  <a:pt x="2055657" y="416196"/>
                  <a:pt x="2109820" y="949535"/>
                </a:cubicBezTo>
                <a:lnTo>
                  <a:pt x="2115210" y="1056278"/>
                </a:lnTo>
                <a:lnTo>
                  <a:pt x="0" y="1056278"/>
                </a:lnTo>
                <a:lnTo>
                  <a:pt x="5390" y="949535"/>
                </a:lnTo>
                <a:cubicBezTo>
                  <a:pt x="59553" y="416196"/>
                  <a:pt x="509976" y="0"/>
                  <a:pt x="105760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Object 1">
            <a:extLst>
              <a:ext uri="{FF2B5EF4-FFF2-40B4-BE49-F238E27FC236}">
                <a16:creationId xmlns:a16="http://schemas.microsoft.com/office/drawing/2014/main" id="{056E6431-5C32-6197-AA1B-376379431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9852" y="0"/>
            <a:ext cx="1574573" cy="395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3"/>
            <a:ext cx="6400800" cy="1828800"/>
          </a:xfrm>
        </p:spPr>
        <p:txBody>
          <a:bodyPr lIns="0" tIns="0" rIns="0" bIns="0">
            <a:noAutofit/>
          </a:bodyPr>
          <a:lstStyle>
            <a:lvl1pPr>
              <a:defRPr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5B92DB2-64DD-608F-360F-52958A93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5683" y="944192"/>
            <a:ext cx="1291008" cy="1291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1AC91-E5AE-A457-178C-6A577DAAF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1185" y="2774786"/>
            <a:ext cx="6400800" cy="3257550"/>
          </a:xfrm>
        </p:spPr>
        <p:txBody>
          <a:bodyPr lIns="0"/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D4FED77-2877-7D28-E27C-7BE9F5E73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0785AC1-54EA-61EE-115B-C1910CC60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F0B2CA14-03DC-FC05-7713-E0261B4B2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42" b="69630"/>
          <a:stretch>
            <a:fillRect/>
          </a:stretch>
        </p:blipFill>
        <p:spPr>
          <a:xfrm>
            <a:off x="1" y="4775200"/>
            <a:ext cx="6608233" cy="2082800"/>
          </a:xfrm>
          <a:custGeom>
            <a:avLst/>
            <a:gdLst>
              <a:gd name="connsiteX0" fmla="*/ 0 w 6608233"/>
              <a:gd name="connsiteY0" fmla="*/ 0 h 2082800"/>
              <a:gd name="connsiteX1" fmla="*/ 6608233 w 6608233"/>
              <a:gd name="connsiteY1" fmla="*/ 0 h 2082800"/>
              <a:gd name="connsiteX2" fmla="*/ 6608233 w 6608233"/>
              <a:gd name="connsiteY2" fmla="*/ 2082800 h 2082800"/>
              <a:gd name="connsiteX3" fmla="*/ 0 w 6608233"/>
              <a:gd name="connsiteY3" fmla="*/ 2082800 h 208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08233" h="2082800">
                <a:moveTo>
                  <a:pt x="0" y="0"/>
                </a:moveTo>
                <a:lnTo>
                  <a:pt x="6608233" y="0"/>
                </a:lnTo>
                <a:lnTo>
                  <a:pt x="6608233" y="2082800"/>
                </a:lnTo>
                <a:lnTo>
                  <a:pt x="0" y="2082800"/>
                </a:lnTo>
                <a:close/>
              </a:path>
            </a:pathLst>
          </a:cu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5EC223C2-E475-8E7A-48D4-A9BC2EB69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49382" y="1747860"/>
            <a:ext cx="2692400" cy="2692400"/>
          </a:xfrm>
          <a:custGeom>
            <a:avLst/>
            <a:gdLst>
              <a:gd name="connsiteX0" fmla="*/ 1346200 w 2692400"/>
              <a:gd name="connsiteY0" fmla="*/ 0 h 2692400"/>
              <a:gd name="connsiteX1" fmla="*/ 2692400 w 2692400"/>
              <a:gd name="connsiteY1" fmla="*/ 1346200 h 2692400"/>
              <a:gd name="connsiteX2" fmla="*/ 1346200 w 2692400"/>
              <a:gd name="connsiteY2" fmla="*/ 2692400 h 2692400"/>
              <a:gd name="connsiteX3" fmla="*/ 0 w 2692400"/>
              <a:gd name="connsiteY3" fmla="*/ 1346200 h 2692400"/>
              <a:gd name="connsiteX4" fmla="*/ 1346200 w 2692400"/>
              <a:gd name="connsiteY4" fmla="*/ 0 h 2692400"/>
              <a:gd name="connsiteX5" fmla="*/ 1346199 w 2692400"/>
              <a:gd name="connsiteY5" fmla="*/ 457130 h 2692400"/>
              <a:gd name="connsiteX6" fmla="*/ 457130 w 2692400"/>
              <a:gd name="connsiteY6" fmla="*/ 1346199 h 2692400"/>
              <a:gd name="connsiteX7" fmla="*/ 1346199 w 2692400"/>
              <a:gd name="connsiteY7" fmla="*/ 2235268 h 2692400"/>
              <a:gd name="connsiteX8" fmla="*/ 2235268 w 2692400"/>
              <a:gd name="connsiteY8" fmla="*/ 1346199 h 2692400"/>
              <a:gd name="connsiteX9" fmla="*/ 1346199 w 2692400"/>
              <a:gd name="connsiteY9" fmla="*/ 45713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rgbClr val="D5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D9D7CE-BCD9-0B12-1945-C5FFE31A7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93014" y="361075"/>
            <a:ext cx="2115351" cy="21153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55275E-28AB-F0B7-E799-5116B11205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827307"/>
            <a:ext cx="6400800" cy="5203387"/>
          </a:xfrm>
        </p:spPr>
        <p:txBody>
          <a:bodyPr lIns="0" tIns="0" rIns="0" bIns="0" anchor="ctr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7BD7E0A-39A9-0CF7-F1CE-E777075BFA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01915" y="304690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ln w="57150">
            <a:noFill/>
          </a:ln>
        </p:spPr>
        <p:txBody>
          <a:bodyPr wrap="square" tIns="137160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163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>
            <a:extLst>
              <a:ext uri="{FF2B5EF4-FFF2-40B4-BE49-F238E27FC236}">
                <a16:creationId xmlns:a16="http://schemas.microsoft.com/office/drawing/2014/main" id="{269C21E5-B8EE-7438-A771-34BC8006E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385898" y="0"/>
            <a:ext cx="1574573" cy="3954463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18F333FA-6DDE-DB6C-73BB-FE8387977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15508" y="4240999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B87953E-96F2-8BCC-B295-E1033E7D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7599718" cy="3051394"/>
          </a:xfrm>
        </p:spPr>
        <p:txBody>
          <a:bodyPr lIns="0" tIns="0" rIns="0" bIns="0"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0A627B70-91C8-40B9-6189-B29749FF6E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1185" y="3965028"/>
            <a:ext cx="7599718" cy="14937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accent4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800" b="1" i="0">
                <a:latin typeface="Arial Black" panose="020B0604020202020204" pitchFamily="34" charset="0"/>
                <a:cs typeface="Arial Black" panose="020B0604020202020204" pitchFamily="34" charset="0"/>
              </a:defRPr>
            </a:lvl2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94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C12813-DBA6-41C2-2418-83919E059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741680" y="0"/>
            <a:ext cx="2133966" cy="2133966"/>
            <a:chOff x="9654699" y="2229295"/>
            <a:chExt cx="2133966" cy="2133966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2A74540-7988-B712-8AB1-9EE03FE1EC8A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6CF9A1-91DA-6419-08F2-4CC262EA4D1E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AAAE3BC0-55AE-B520-F2B8-50BF886EF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2884" r="34757"/>
          <a:stretch>
            <a:fillRect/>
          </a:stretch>
        </p:blipFill>
        <p:spPr>
          <a:xfrm flipH="1" flipV="1">
            <a:off x="0" y="3626779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B29A2F3-C289-9762-6F9F-DA18D322D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0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2A1870-E86B-5125-7AB3-A1F5DF7E752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953000" y="2768043"/>
            <a:ext cx="6400799" cy="3231221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1FE2A1C-A3CC-9D8B-DE44-FDE1132F7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3C454DD-C924-8468-6944-AF53508CD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825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3051393"/>
          </a:xfrm>
        </p:spPr>
        <p:txBody>
          <a:bodyPr lIns="0" tIns="0" rIns="0" bIns="0" anchor="b">
            <a:noAutofit/>
          </a:bodyPr>
          <a:lstStyle>
            <a:lvl1pPr>
              <a:defRPr sz="54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E0CDAE70-42DC-AB0D-6734-B9944B799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185" y="3965028"/>
            <a:ext cx="6400799" cy="1966747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b="1" i="0" dirty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pPr marL="228600" lvl="0" indent="-228600"/>
            <a:r>
              <a:rPr lang="en-US" dirty="0"/>
              <a:t>Click to add subtitle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5B92DB2-64DD-608F-360F-52958A93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5683" y="944192"/>
            <a:ext cx="1291008" cy="1291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8EDAF-6CF8-D96E-EB91-CAFEBE0CA1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91187" y="247518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solidFill>
            <a:schemeClr val="accent3"/>
          </a:solidFill>
          <a:ln w="57150">
            <a:noFill/>
          </a:ln>
        </p:spPr>
        <p:txBody>
          <a:bodyPr wrap="square" tIns="11887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E148B4D-CB0B-8B95-BA58-B33DE0530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B895145-43B3-C337-08C1-C009F83D8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88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22F8239-92F5-595B-5DD3-ACBA1C19E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2969"/>
          <a:stretch/>
        </p:blipFill>
        <p:spPr>
          <a:xfrm>
            <a:off x="3459002" y="5609995"/>
            <a:ext cx="7328137" cy="1248005"/>
          </a:xfrm>
          <a:custGeom>
            <a:avLst/>
            <a:gdLst>
              <a:gd name="connsiteX0" fmla="*/ 0 w 7328137"/>
              <a:gd name="connsiteY0" fmla="*/ 0 h 1912980"/>
              <a:gd name="connsiteX1" fmla="*/ 7328137 w 7328137"/>
              <a:gd name="connsiteY1" fmla="*/ 0 h 1912980"/>
              <a:gd name="connsiteX2" fmla="*/ 7328137 w 7328137"/>
              <a:gd name="connsiteY2" fmla="*/ 1912980 h 1912980"/>
              <a:gd name="connsiteX3" fmla="*/ 0 w 7328137"/>
              <a:gd name="connsiteY3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8137" h="1912980">
                <a:moveTo>
                  <a:pt x="0" y="0"/>
                </a:moveTo>
                <a:lnTo>
                  <a:pt x="7328137" y="0"/>
                </a:lnTo>
                <a:lnTo>
                  <a:pt x="7328137" y="1912980"/>
                </a:lnTo>
                <a:lnTo>
                  <a:pt x="0" y="1912980"/>
                </a:lnTo>
                <a:close/>
              </a:path>
            </a:pathLst>
          </a:cu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F9E987C-6F3E-FB11-D796-2D5F9075A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0"/>
            <a:ext cx="2133966" cy="2133966"/>
            <a:chOff x="9654699" y="2229295"/>
            <a:chExt cx="2133966" cy="213396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3342B09-3192-492F-3F5F-19163C83F9EE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62E2B15-36A9-C2C7-6306-EEA512B646D0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52DD956C-BC83-8F97-6FF5-5A11028F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21792"/>
            <a:ext cx="8180412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A612ED1-3CD3-8532-2C92-777F6D005F1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38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4BCE7-3651-7CA3-1353-9B2526D267A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4217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886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1">
            <a:extLst>
              <a:ext uri="{FF2B5EF4-FFF2-40B4-BE49-F238E27FC236}">
                <a16:creationId xmlns:a16="http://schemas.microsoft.com/office/drawing/2014/main" id="{83F8143D-16B1-4CE2-1910-9E5074922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10800000">
            <a:off x="1084203" y="4586286"/>
            <a:ext cx="1574573" cy="2271713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F6BE63D1-6CC6-AD50-D587-0514090FB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13816" y="2184400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05155"/>
            <a:ext cx="10571734" cy="1160145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DE6614-889D-2DB5-4C2F-DCBD22BA3B2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835400" y="2185127"/>
            <a:ext cx="2736849" cy="4067717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051560" indent="-228600">
              <a:buFont typeface="+mj-lt"/>
              <a:buAutoNum type="alphaLcParenR"/>
              <a:defRPr sz="1800"/>
            </a:lvl4pPr>
            <a:lvl5pPr marL="1417320" indent="-2286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B2B871-B646-8E1E-CD57-2224B2D4E59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7221564" y="2184400"/>
            <a:ext cx="4156619" cy="4046290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698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028" b="78285"/>
          <a:stretch/>
        </p:blipFill>
        <p:spPr>
          <a:xfrm>
            <a:off x="0" y="5368807"/>
            <a:ext cx="3769950" cy="1489194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6275416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FE945C7-CAAC-C9B4-0B56-EC62E53C8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82467" y="5439854"/>
            <a:ext cx="1096391" cy="10963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 4">
            <a:extLst>
              <a:ext uri="{FF2B5EF4-FFF2-40B4-BE49-F238E27FC236}">
                <a16:creationId xmlns:a16="http://schemas.microsoft.com/office/drawing/2014/main" id="{E58C5299-758C-70DA-D929-E0BC719E9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16629" y="3758740"/>
            <a:ext cx="2130921" cy="2130921"/>
          </a:xfrm>
          <a:custGeom>
            <a:avLst/>
            <a:gdLst>
              <a:gd name="connsiteX0" fmla="*/ 1346200 w 2692400"/>
              <a:gd name="connsiteY0" fmla="*/ 0 h 2692400"/>
              <a:gd name="connsiteX1" fmla="*/ 2692400 w 2692400"/>
              <a:gd name="connsiteY1" fmla="*/ 1346200 h 2692400"/>
              <a:gd name="connsiteX2" fmla="*/ 1346200 w 2692400"/>
              <a:gd name="connsiteY2" fmla="*/ 2692400 h 2692400"/>
              <a:gd name="connsiteX3" fmla="*/ 0 w 2692400"/>
              <a:gd name="connsiteY3" fmla="*/ 1346200 h 2692400"/>
              <a:gd name="connsiteX4" fmla="*/ 1346200 w 2692400"/>
              <a:gd name="connsiteY4" fmla="*/ 0 h 2692400"/>
              <a:gd name="connsiteX5" fmla="*/ 1346199 w 2692400"/>
              <a:gd name="connsiteY5" fmla="*/ 457130 h 2692400"/>
              <a:gd name="connsiteX6" fmla="*/ 457130 w 2692400"/>
              <a:gd name="connsiteY6" fmla="*/ 1346199 h 2692400"/>
              <a:gd name="connsiteX7" fmla="*/ 1346199 w 2692400"/>
              <a:gd name="connsiteY7" fmla="*/ 2235268 h 2692400"/>
              <a:gd name="connsiteX8" fmla="*/ 2235268 w 2692400"/>
              <a:gd name="connsiteY8" fmla="*/ 1346199 h 2692400"/>
              <a:gd name="connsiteX9" fmla="*/ 1346199 w 2692400"/>
              <a:gd name="connsiteY9" fmla="*/ 45713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rgbClr val="D5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A4C6AC-F9E8-412E-2D6B-9FDD07ADDE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0330" y="2771566"/>
            <a:ext cx="6275387" cy="3271324"/>
          </a:xfrm>
        </p:spPr>
        <p:txBody>
          <a:bodyPr lIns="0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C0463C33-FF99-2443-BE5D-682AC8CB8B7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09054" y="459137"/>
            <a:ext cx="4126800" cy="4126800"/>
          </a:xfrm>
          <a:custGeom>
            <a:avLst/>
            <a:gdLst>
              <a:gd name="connsiteX0" fmla="*/ 2063400 w 4126800"/>
              <a:gd name="connsiteY0" fmla="*/ 0 h 4126800"/>
              <a:gd name="connsiteX1" fmla="*/ 4126800 w 4126800"/>
              <a:gd name="connsiteY1" fmla="*/ 2063400 h 4126800"/>
              <a:gd name="connsiteX2" fmla="*/ 2063400 w 4126800"/>
              <a:gd name="connsiteY2" fmla="*/ 4126800 h 4126800"/>
              <a:gd name="connsiteX3" fmla="*/ 0 w 4126800"/>
              <a:gd name="connsiteY3" fmla="*/ 2063400 h 4126800"/>
              <a:gd name="connsiteX4" fmla="*/ 2063400 w 4126800"/>
              <a:gd name="connsiteY4" fmla="*/ 0 h 412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26800" h="4126800">
                <a:moveTo>
                  <a:pt x="2063400" y="0"/>
                </a:moveTo>
                <a:cubicBezTo>
                  <a:pt x="3202984" y="0"/>
                  <a:pt x="4126800" y="923816"/>
                  <a:pt x="4126800" y="2063400"/>
                </a:cubicBezTo>
                <a:cubicBezTo>
                  <a:pt x="4126800" y="3202984"/>
                  <a:pt x="3202984" y="4126800"/>
                  <a:pt x="2063400" y="4126800"/>
                </a:cubicBezTo>
                <a:cubicBezTo>
                  <a:pt x="923816" y="4126800"/>
                  <a:pt x="0" y="3202984"/>
                  <a:pt x="0" y="2063400"/>
                </a:cubicBezTo>
                <a:cubicBezTo>
                  <a:pt x="0" y="923816"/>
                  <a:pt x="923816" y="0"/>
                  <a:pt x="2063400" y="0"/>
                </a:cubicBezTo>
                <a:close/>
              </a:path>
            </a:pathLst>
          </a:custGeom>
        </p:spPr>
        <p:txBody>
          <a:bodyPr wrap="square" tIns="7315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806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D978EB2-1AE7-BB87-954B-F3DBF5080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10569634" cy="1801793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06BDC3-2B84-117A-BF71-A331C1DD6BC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3" y="2796209"/>
            <a:ext cx="3657598" cy="3147392"/>
          </a:xfrm>
        </p:spPr>
        <p:txBody>
          <a:bodyPr lIns="0" tIns="0" rIns="0" bIns="0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4D2A92BD-8372-F61F-9551-6FA12079139B}"/>
              </a:ext>
            </a:extLst>
          </p:cNvPr>
          <p:cNvSpPr>
            <a:spLocks noGrp="1"/>
          </p:cNvSpPr>
          <p:nvPr>
            <p:ph type="tbl" sz="quarter" idx="28" hasCustomPrompt="1"/>
          </p:nvPr>
        </p:nvSpPr>
        <p:spPr>
          <a:xfrm>
            <a:off x="4902200" y="2795588"/>
            <a:ext cx="6478617" cy="314801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61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9EF52E1-6F3C-5D9B-32DC-A156BDDE2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647" b="86709"/>
          <a:stretch/>
        </p:blipFill>
        <p:spPr>
          <a:xfrm>
            <a:off x="-1" y="5946505"/>
            <a:ext cx="5304866" cy="911495"/>
          </a:xfrm>
          <a:custGeom>
            <a:avLst/>
            <a:gdLst>
              <a:gd name="connsiteX0" fmla="*/ 0 w 5304866"/>
              <a:gd name="connsiteY0" fmla="*/ 0 h 1912980"/>
              <a:gd name="connsiteX1" fmla="*/ 5304866 w 5304866"/>
              <a:gd name="connsiteY1" fmla="*/ 0 h 1912980"/>
              <a:gd name="connsiteX2" fmla="*/ 5304866 w 5304866"/>
              <a:gd name="connsiteY2" fmla="*/ 1912980 h 1912980"/>
              <a:gd name="connsiteX3" fmla="*/ 5304865 w 5304866"/>
              <a:gd name="connsiteY3" fmla="*/ 1912980 h 1912980"/>
              <a:gd name="connsiteX4" fmla="*/ 0 w 5304866"/>
              <a:gd name="connsiteY4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4866" h="1912980">
                <a:moveTo>
                  <a:pt x="0" y="0"/>
                </a:moveTo>
                <a:lnTo>
                  <a:pt x="5304866" y="0"/>
                </a:lnTo>
                <a:lnTo>
                  <a:pt x="5304866" y="1912980"/>
                </a:lnTo>
                <a:lnTo>
                  <a:pt x="5304865" y="1912980"/>
                </a:lnTo>
                <a:lnTo>
                  <a:pt x="0" y="1912980"/>
                </a:lnTo>
                <a:close/>
              </a:path>
            </a:pathLst>
          </a:cu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4510996E-0672-63AB-DCBF-25B251B2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7680" y="0"/>
            <a:ext cx="1694321" cy="2692400"/>
          </a:xfrm>
          <a:custGeom>
            <a:avLst/>
            <a:gdLst>
              <a:gd name="connsiteX0" fmla="*/ 1346200 w 1694321"/>
              <a:gd name="connsiteY0" fmla="*/ 0 h 2692400"/>
              <a:gd name="connsiteX1" fmla="*/ 1617506 w 1694321"/>
              <a:gd name="connsiteY1" fmla="*/ 27350 h 2692400"/>
              <a:gd name="connsiteX2" fmla="*/ 1694321 w 1694321"/>
              <a:gd name="connsiteY2" fmla="*/ 47101 h 2692400"/>
              <a:gd name="connsiteX3" fmla="*/ 1694321 w 1694321"/>
              <a:gd name="connsiteY3" fmla="*/ 528114 h 2692400"/>
              <a:gd name="connsiteX4" fmla="*/ 1692265 w 1694321"/>
              <a:gd name="connsiteY4" fmla="*/ 526998 h 2692400"/>
              <a:gd name="connsiteX5" fmla="*/ 1346199 w 1694321"/>
              <a:gd name="connsiteY5" fmla="*/ 457130 h 2692400"/>
              <a:gd name="connsiteX6" fmla="*/ 457130 w 1694321"/>
              <a:gd name="connsiteY6" fmla="*/ 1346199 h 2692400"/>
              <a:gd name="connsiteX7" fmla="*/ 1346199 w 1694321"/>
              <a:gd name="connsiteY7" fmla="*/ 2235268 h 2692400"/>
              <a:gd name="connsiteX8" fmla="*/ 1692265 w 1694321"/>
              <a:gd name="connsiteY8" fmla="*/ 2165401 h 2692400"/>
              <a:gd name="connsiteX9" fmla="*/ 1694321 w 1694321"/>
              <a:gd name="connsiteY9" fmla="*/ 2164285 h 2692400"/>
              <a:gd name="connsiteX10" fmla="*/ 1694321 w 1694321"/>
              <a:gd name="connsiteY10" fmla="*/ 2645299 h 2692400"/>
              <a:gd name="connsiteX11" fmla="*/ 1617506 w 1694321"/>
              <a:gd name="connsiteY11" fmla="*/ 2665050 h 2692400"/>
              <a:gd name="connsiteX12" fmla="*/ 1346200 w 1694321"/>
              <a:gd name="connsiteY12" fmla="*/ 2692400 h 2692400"/>
              <a:gd name="connsiteX13" fmla="*/ 0 w 1694321"/>
              <a:gd name="connsiteY13" fmla="*/ 1346200 h 2692400"/>
              <a:gd name="connsiteX14" fmla="*/ 1346200 w 1694321"/>
              <a:gd name="connsiteY14" fmla="*/ 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94321" h="2692400">
                <a:moveTo>
                  <a:pt x="1346200" y="0"/>
                </a:moveTo>
                <a:cubicBezTo>
                  <a:pt x="1439136" y="0"/>
                  <a:pt x="1529872" y="9417"/>
                  <a:pt x="1617506" y="27350"/>
                </a:cubicBezTo>
                <a:lnTo>
                  <a:pt x="1694321" y="47101"/>
                </a:lnTo>
                <a:lnTo>
                  <a:pt x="1694321" y="528114"/>
                </a:lnTo>
                <a:lnTo>
                  <a:pt x="1692265" y="526998"/>
                </a:lnTo>
                <a:cubicBezTo>
                  <a:pt x="1585898" y="482008"/>
                  <a:pt x="1468954" y="457130"/>
                  <a:pt x="1346199" y="457130"/>
                </a:cubicBez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468954" y="2235268"/>
                  <a:pt x="1585898" y="2210390"/>
                  <a:pt x="1692265" y="2165401"/>
                </a:cubicBezTo>
                <a:lnTo>
                  <a:pt x="1694321" y="2164285"/>
                </a:lnTo>
                <a:lnTo>
                  <a:pt x="1694321" y="2645299"/>
                </a:lnTo>
                <a:lnTo>
                  <a:pt x="1617506" y="2665050"/>
                </a:lnTo>
                <a:cubicBezTo>
                  <a:pt x="1529872" y="2682983"/>
                  <a:pt x="143913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2B4D4-87FA-ACC4-A0FD-E98B07CE98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5" y="3067050"/>
            <a:ext cx="6400800" cy="30480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800"/>
            </a:lvl2pPr>
            <a:lvl3pPr marL="685800">
              <a:defRPr sz="1800"/>
            </a:lvl3pPr>
            <a:lvl4pPr marL="1051560">
              <a:defRPr sz="1800"/>
            </a:lvl4pPr>
            <a:lvl5pPr marL="141732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8F85D-7A7F-3D36-8C6A-6589D66D2AFD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861300" y="3067050"/>
            <a:ext cx="3519515" cy="3048000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165860" indent="-342900">
              <a:buFont typeface="+mj-lt"/>
              <a:buAutoNum type="alphaLcPeriod"/>
              <a:defRPr sz="1800"/>
            </a:lvl4pPr>
            <a:lvl5pPr marL="1531620" indent="-3429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945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028" b="67254"/>
          <a:stretch>
            <a:fillRect/>
          </a:stretch>
        </p:blipFill>
        <p:spPr>
          <a:xfrm>
            <a:off x="0" y="4612248"/>
            <a:ext cx="3769950" cy="2245753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4" y="621973"/>
            <a:ext cx="7309086" cy="1828800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3E0C7AAD-1535-12DC-133E-2253BF501721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811183" y="2757488"/>
            <a:ext cx="10548967" cy="3399964"/>
          </a:xfrm>
        </p:spPr>
        <p:txBody>
          <a:bodyPr/>
          <a:lstStyle/>
          <a:p>
            <a:r>
              <a:rPr lang="en-US" dirty="0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974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8AC6985-AA41-BCAE-CEDF-E736D973B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4" y="612647"/>
            <a:ext cx="10002589" cy="3657600"/>
          </a:xfrm>
        </p:spPr>
        <p:txBody>
          <a:bodyPr lIns="0" tIns="0" rIns="0" bIns="0" anchor="b">
            <a:noAutofit/>
          </a:bodyPr>
          <a:lstStyle>
            <a:lvl1pPr mar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A7B85660-94E4-85D1-95CA-415513A0355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1185" y="4724033"/>
            <a:ext cx="7000972" cy="170942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CAF5C0-1B51-02B5-924D-230575353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4724034"/>
            <a:ext cx="2133966" cy="2133966"/>
            <a:chOff x="9654699" y="2229295"/>
            <a:chExt cx="2133966" cy="2133966"/>
          </a:xfrm>
        </p:grpSpPr>
        <p:sp>
          <p:nvSpPr>
            <p:cNvPr id="3" name="Freeform 11">
              <a:extLst>
                <a:ext uri="{FF2B5EF4-FFF2-40B4-BE49-F238E27FC236}">
                  <a16:creationId xmlns:a16="http://schemas.microsoft.com/office/drawing/2014/main" id="{41AAE8D5-8E6A-7CBE-9018-DD8F3493D049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C694532E-B147-38A2-55EE-24483385016A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114B3BE5-2D39-542C-00BB-A940C568E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2884" r="34757"/>
          <a:stretch>
            <a:fillRect/>
          </a:stretch>
        </p:blipFill>
        <p:spPr>
          <a:xfrm>
            <a:off x="7717670" y="0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88813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10569630" cy="1068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1185" y="1825625"/>
            <a:ext cx="1056963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5" r:id="rId3"/>
    <p:sldLayoutId id="2147483683" r:id="rId4"/>
    <p:sldLayoutId id="2147483684" r:id="rId5"/>
    <p:sldLayoutId id="2147483685" r:id="rId6"/>
    <p:sldLayoutId id="2147483671" r:id="rId7"/>
    <p:sldLayoutId id="2147483679" r:id="rId8"/>
    <p:sldLayoutId id="2147483676" r:id="rId9"/>
    <p:sldLayoutId id="2147483669" r:id="rId10"/>
    <p:sldLayoutId id="2147483673" r:id="rId11"/>
    <p:sldLayoutId id="2147483682" r:id="rId12"/>
    <p:sldLayoutId id="2147483656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spc="100" baseline="0">
          <a:solidFill>
            <a:schemeClr val="bg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15D2-7F57-AF2A-38D7-558098789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5" y="629469"/>
            <a:ext cx="8961120" cy="5599062"/>
          </a:xfrm>
        </p:spPr>
        <p:txBody>
          <a:bodyPr/>
          <a:lstStyle/>
          <a:p>
            <a:r>
              <a:rPr lang="en-US" dirty="0" err="1"/>
              <a:t>MAid</a:t>
            </a:r>
            <a:r>
              <a:rPr lang="en-US" dirty="0"/>
              <a:t> app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2D80B9-29FA-E1F5-99BD-4D49FE05A60D}"/>
              </a:ext>
            </a:extLst>
          </p:cNvPr>
          <p:cNvSpPr txBox="1"/>
          <p:nvPr/>
        </p:nvSpPr>
        <p:spPr>
          <a:xfrm>
            <a:off x="2797641" y="4029667"/>
            <a:ext cx="4168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 full-stack Medical Tool </a:t>
            </a:r>
          </a:p>
          <a:p>
            <a:r>
              <a:rPr lang="en-US" b="1" dirty="0">
                <a:solidFill>
                  <a:schemeClr val="bg1"/>
                </a:solidFill>
              </a:rPr>
              <a:t>for Nurses and Healthcare Providers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6D17F9-6EE9-7679-B9B4-44EED02412A9}"/>
              </a:ext>
            </a:extLst>
          </p:cNvPr>
          <p:cNvSpPr txBox="1"/>
          <p:nvPr/>
        </p:nvSpPr>
        <p:spPr>
          <a:xfrm>
            <a:off x="718907" y="2207172"/>
            <a:ext cx="1904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+mj-lt"/>
              </a:rPr>
              <a:t>The</a:t>
            </a:r>
          </a:p>
        </p:txBody>
      </p:sp>
    </p:spTree>
    <p:extLst>
      <p:ext uri="{BB962C8B-B14F-4D97-AF65-F5344CB8AC3E}">
        <p14:creationId xmlns:p14="http://schemas.microsoft.com/office/powerpoint/2010/main" val="3421401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ABBA-2E6D-E7DD-AC67-58D1FCB3F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898" y="1072110"/>
            <a:ext cx="6400800" cy="182880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01105-5841-28D0-D6C0-3E1A46648BF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3532" y="1986510"/>
            <a:ext cx="7330128" cy="325755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/>
              <a:t>Purpose: </a:t>
            </a:r>
            <a:r>
              <a:rPr lang="en-US" sz="2000" dirty="0"/>
              <a:t>A reference app for medical professionals to:</a:t>
            </a:r>
          </a:p>
          <a:p>
            <a:pPr marL="1143000" lvl="1" indent="-457200"/>
            <a:r>
              <a:rPr lang="en-US" sz="1600" b="1" dirty="0"/>
              <a:t>Look up medications, their dosages, their alternative names</a:t>
            </a:r>
          </a:p>
          <a:p>
            <a:pPr marL="1143000" lvl="1" indent="-457200"/>
            <a:r>
              <a:rPr lang="en-US" sz="1600" b="1" dirty="0"/>
              <a:t>Look up illicit drugs and their alternative names</a:t>
            </a:r>
          </a:p>
          <a:p>
            <a:pPr marL="1143000" lvl="1" indent="-457200"/>
            <a:r>
              <a:rPr lang="en-US" sz="1600" b="1" dirty="0"/>
              <a:t>Quickly and efficiently calculate patient BMI (Body Mass Index)</a:t>
            </a:r>
          </a:p>
          <a:p>
            <a:pPr marL="1143000" lvl="1" indent="-457200"/>
            <a:endParaRPr lang="en-US" sz="14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/>
              <a:t>Key Features:</a:t>
            </a:r>
          </a:p>
          <a:p>
            <a:pPr marL="1143000" lvl="1" indent="-457200"/>
            <a:r>
              <a:rPr lang="en-US" sz="1600" b="1" dirty="0"/>
              <a:t>Searchable Database, PDF Export, user authentication</a:t>
            </a:r>
          </a:p>
          <a:p>
            <a:pPr marL="1143000" lvl="1" indent="-457200"/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94866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737ECE-52B5-AA10-141E-63463E3028DA}"/>
              </a:ext>
            </a:extLst>
          </p:cNvPr>
          <p:cNvSpPr txBox="1"/>
          <p:nvPr/>
        </p:nvSpPr>
        <p:spPr>
          <a:xfrm>
            <a:off x="889175" y="800888"/>
            <a:ext cx="5852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+mj-lt"/>
              </a:rPr>
              <a:t>Tech Stack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3AEF1E-B604-B58B-4580-9AECB208E8E5}"/>
              </a:ext>
            </a:extLst>
          </p:cNvPr>
          <p:cNvSpPr txBox="1"/>
          <p:nvPr/>
        </p:nvSpPr>
        <p:spPr>
          <a:xfrm>
            <a:off x="1002687" y="1702676"/>
            <a:ext cx="50933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Frontend: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HTML5, CSS3, Bootstrap 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JavaScript, Font Awesome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BCACB4-EE8B-B39D-F2A1-C3EEA04B22FA}"/>
              </a:ext>
            </a:extLst>
          </p:cNvPr>
          <p:cNvSpPr txBox="1"/>
          <p:nvPr/>
        </p:nvSpPr>
        <p:spPr>
          <a:xfrm>
            <a:off x="994279" y="2693802"/>
            <a:ext cx="509331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Backend: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Node.js, Express.js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MySQL via MySQL2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Authentication: </a:t>
            </a:r>
            <a:r>
              <a:rPr lang="en-US" dirty="0" err="1">
                <a:solidFill>
                  <a:schemeClr val="bg1"/>
                </a:solidFill>
              </a:rPr>
              <a:t>bcrypt</a:t>
            </a:r>
            <a:r>
              <a:rPr lang="en-US" dirty="0">
                <a:solidFill>
                  <a:schemeClr val="bg1"/>
                </a:solidFill>
              </a:rPr>
              <a:t> + express-session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E260E6-A9CC-87C1-04B1-D4E98A9CE705}"/>
              </a:ext>
            </a:extLst>
          </p:cNvPr>
          <p:cNvSpPr txBox="1"/>
          <p:nvPr/>
        </p:nvSpPr>
        <p:spPr>
          <a:xfrm>
            <a:off x="1002686" y="3961927"/>
            <a:ext cx="50933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Tools: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VSCode</a:t>
            </a:r>
            <a:r>
              <a:rPr lang="en-US" dirty="0">
                <a:solidFill>
                  <a:schemeClr val="bg1"/>
                </a:solidFill>
              </a:rPr>
              <a:t>, MySQL Workbench, Adobe Illustrator (logo)</a:t>
            </a:r>
          </a:p>
        </p:txBody>
      </p:sp>
    </p:spTree>
    <p:extLst>
      <p:ext uri="{BB962C8B-B14F-4D97-AF65-F5344CB8AC3E}">
        <p14:creationId xmlns:p14="http://schemas.microsoft.com/office/powerpoint/2010/main" val="1198221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53FE274-40DE-A27C-2FA3-3D3D5A139209}"/>
              </a:ext>
            </a:extLst>
          </p:cNvPr>
          <p:cNvSpPr txBox="1"/>
          <p:nvPr/>
        </p:nvSpPr>
        <p:spPr>
          <a:xfrm>
            <a:off x="668459" y="882870"/>
            <a:ext cx="60602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+mj-lt"/>
              </a:rPr>
              <a:t>Project Directory Structure: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8E48E7-ADDC-27EC-5CED-81980CA1C9CE}"/>
              </a:ext>
            </a:extLst>
          </p:cNvPr>
          <p:cNvSpPr txBox="1"/>
          <p:nvPr/>
        </p:nvSpPr>
        <p:spPr>
          <a:xfrm>
            <a:off x="819807" y="2642301"/>
            <a:ext cx="6318819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maid-app/</a:t>
            </a:r>
          </a:p>
          <a:p>
            <a:r>
              <a:rPr lang="en-US" dirty="0">
                <a:solidFill>
                  <a:schemeClr val="bg1"/>
                </a:solidFill>
              </a:rPr>
              <a:t>├── assets/</a:t>
            </a:r>
          </a:p>
          <a:p>
            <a:r>
              <a:rPr lang="en-US" dirty="0">
                <a:solidFill>
                  <a:schemeClr val="bg1"/>
                </a:solidFill>
              </a:rPr>
              <a:t>        ├── </a:t>
            </a:r>
            <a:r>
              <a:rPr lang="en-US" dirty="0" err="1">
                <a:solidFill>
                  <a:schemeClr val="bg1"/>
                </a:solidFill>
              </a:rPr>
              <a:t>js</a:t>
            </a:r>
            <a:r>
              <a:rPr lang="en-US" dirty="0">
                <a:solidFill>
                  <a:schemeClr val="bg1"/>
                </a:solidFill>
              </a:rPr>
              <a:t>/</a:t>
            </a:r>
          </a:p>
          <a:p>
            <a:r>
              <a:rPr lang="en-US" dirty="0">
                <a:solidFill>
                  <a:schemeClr val="bg1"/>
                </a:solidFill>
              </a:rPr>
              <a:t>        ├── </a:t>
            </a:r>
            <a:r>
              <a:rPr lang="en-US" dirty="0" err="1">
                <a:solidFill>
                  <a:schemeClr val="bg1"/>
                </a:solidFill>
              </a:rPr>
              <a:t>css</a:t>
            </a:r>
            <a:r>
              <a:rPr lang="en-US" dirty="0">
                <a:solidFill>
                  <a:schemeClr val="bg1"/>
                </a:solidFill>
              </a:rPr>
              <a:t>/</a:t>
            </a:r>
          </a:p>
          <a:p>
            <a:r>
              <a:rPr lang="en-US" dirty="0">
                <a:solidFill>
                  <a:schemeClr val="bg1"/>
                </a:solidFill>
              </a:rPr>
              <a:t>        └── images/</a:t>
            </a:r>
          </a:p>
          <a:p>
            <a:r>
              <a:rPr lang="en-US" dirty="0">
                <a:solidFill>
                  <a:schemeClr val="bg1"/>
                </a:solidFill>
              </a:rPr>
              <a:t>├── index.html</a:t>
            </a:r>
          </a:p>
          <a:p>
            <a:r>
              <a:rPr lang="en-US" dirty="0">
                <a:solidFill>
                  <a:schemeClr val="bg1"/>
                </a:solidFill>
              </a:rPr>
              <a:t>├── medications.html</a:t>
            </a:r>
          </a:p>
          <a:p>
            <a:r>
              <a:rPr lang="en-US" dirty="0">
                <a:solidFill>
                  <a:schemeClr val="bg1"/>
                </a:solidFill>
              </a:rPr>
              <a:t>├── drugs.html</a:t>
            </a:r>
          </a:p>
          <a:p>
            <a:r>
              <a:rPr lang="en-US" dirty="0">
                <a:solidFill>
                  <a:schemeClr val="bg1"/>
                </a:solidFill>
              </a:rPr>
              <a:t>├── bmi.html</a:t>
            </a:r>
          </a:p>
          <a:p>
            <a:r>
              <a:rPr lang="en-US" dirty="0">
                <a:solidFill>
                  <a:schemeClr val="bg1"/>
                </a:solidFill>
              </a:rPr>
              <a:t>maid-</a:t>
            </a:r>
            <a:r>
              <a:rPr lang="en-US" dirty="0" err="1">
                <a:solidFill>
                  <a:schemeClr val="bg1"/>
                </a:solidFill>
              </a:rPr>
              <a:t>api</a:t>
            </a:r>
            <a:r>
              <a:rPr lang="en-US" dirty="0">
                <a:solidFill>
                  <a:schemeClr val="bg1"/>
                </a:solidFill>
              </a:rPr>
              <a:t>/</a:t>
            </a:r>
          </a:p>
          <a:p>
            <a:r>
              <a:rPr lang="en-US" dirty="0">
                <a:solidFill>
                  <a:schemeClr val="bg1"/>
                </a:solidFill>
              </a:rPr>
              <a:t>├── routes/</a:t>
            </a:r>
          </a:p>
          <a:p>
            <a:r>
              <a:rPr lang="en-US" dirty="0">
                <a:solidFill>
                  <a:schemeClr val="bg1"/>
                </a:solidFill>
              </a:rPr>
              <a:t>├── </a:t>
            </a:r>
            <a:r>
              <a:rPr lang="en-US" dirty="0" err="1">
                <a:solidFill>
                  <a:schemeClr val="bg1"/>
                </a:solidFill>
              </a:rPr>
              <a:t>db</a:t>
            </a:r>
            <a:r>
              <a:rPr lang="en-US" dirty="0">
                <a:solidFill>
                  <a:schemeClr val="bg1"/>
                </a:solidFill>
              </a:rPr>
              <a:t>/</a:t>
            </a:r>
          </a:p>
          <a:p>
            <a:r>
              <a:rPr lang="en-US" dirty="0">
                <a:solidFill>
                  <a:schemeClr val="bg1"/>
                </a:solidFill>
              </a:rPr>
              <a:t>└── server.js</a:t>
            </a:r>
          </a:p>
          <a:p>
            <a:endParaRPr lang="en-US" sz="12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3F41B3-AD56-2A86-CCF5-3792BC7BB32B}"/>
              </a:ext>
            </a:extLst>
          </p:cNvPr>
          <p:cNvCxnSpPr/>
          <p:nvPr/>
        </p:nvCxnSpPr>
        <p:spPr>
          <a:xfrm>
            <a:off x="990074" y="3272921"/>
            <a:ext cx="0" cy="775664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7072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28E5B-47A0-EF94-A53D-6FDB74C9D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15" y="826951"/>
            <a:ext cx="6400800" cy="1828800"/>
          </a:xfrm>
        </p:spPr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CA0A26-05CE-03FD-930D-3AC1CC3AD5AC}"/>
              </a:ext>
            </a:extLst>
          </p:cNvPr>
          <p:cNvSpPr txBox="1"/>
          <p:nvPr/>
        </p:nvSpPr>
        <p:spPr>
          <a:xfrm>
            <a:off x="3386433" y="1917087"/>
            <a:ext cx="83115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Diagram:</a:t>
            </a:r>
          </a:p>
          <a:p>
            <a:r>
              <a:rPr lang="en-US" dirty="0"/>
              <a:t>Client browser </a:t>
            </a:r>
            <a:r>
              <a:rPr lang="en-US" dirty="0">
                <a:solidFill>
                  <a:schemeClr val="bg1"/>
                </a:solidFill>
              </a:rPr>
              <a:t>→ </a:t>
            </a:r>
            <a:r>
              <a:rPr lang="en-US" dirty="0"/>
              <a:t>Frontend (HTML/CSS/JS) </a:t>
            </a:r>
            <a:r>
              <a:rPr lang="en-US" dirty="0">
                <a:solidFill>
                  <a:schemeClr val="bg1"/>
                </a:solidFill>
              </a:rPr>
              <a:t>→ </a:t>
            </a:r>
            <a:r>
              <a:rPr lang="en-US" dirty="0"/>
              <a:t>API (Express) </a:t>
            </a:r>
            <a:r>
              <a:rPr lang="en-US" dirty="0">
                <a:solidFill>
                  <a:schemeClr val="bg1"/>
                </a:solidFill>
              </a:rPr>
              <a:t>→ </a:t>
            </a:r>
            <a:r>
              <a:rPr lang="en-US" dirty="0"/>
              <a:t>MySQL DB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1F90A7D-2409-A606-CAB5-75CF5DEAD92A}"/>
              </a:ext>
            </a:extLst>
          </p:cNvPr>
          <p:cNvSpPr/>
          <p:nvPr/>
        </p:nvSpPr>
        <p:spPr>
          <a:xfrm>
            <a:off x="3449495" y="2333297"/>
            <a:ext cx="1509811" cy="322454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6E0E9D1-7F1A-80CA-2C14-34F6D636A685}"/>
              </a:ext>
            </a:extLst>
          </p:cNvPr>
          <p:cNvSpPr/>
          <p:nvPr/>
        </p:nvSpPr>
        <p:spPr>
          <a:xfrm>
            <a:off x="5247815" y="2324470"/>
            <a:ext cx="2691699" cy="322454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35533A-F9D1-A961-ABCD-8E41236A5749}"/>
              </a:ext>
            </a:extLst>
          </p:cNvPr>
          <p:cNvSpPr/>
          <p:nvPr/>
        </p:nvSpPr>
        <p:spPr>
          <a:xfrm>
            <a:off x="8228023" y="2333297"/>
            <a:ext cx="1458311" cy="322454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C243014-5538-6C2C-06F6-9428DE9B970D}"/>
              </a:ext>
            </a:extLst>
          </p:cNvPr>
          <p:cNvSpPr/>
          <p:nvPr/>
        </p:nvSpPr>
        <p:spPr>
          <a:xfrm>
            <a:off x="9960653" y="2333297"/>
            <a:ext cx="1229186" cy="322454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8F665C-3C4B-DD06-3130-3EB81A307B56}"/>
              </a:ext>
            </a:extLst>
          </p:cNvPr>
          <p:cNvSpPr txBox="1"/>
          <p:nvPr/>
        </p:nvSpPr>
        <p:spPr>
          <a:xfrm>
            <a:off x="3449495" y="2951305"/>
            <a:ext cx="76935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API Endpoints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api</a:t>
            </a:r>
            <a:r>
              <a:rPr lang="en-US" dirty="0">
                <a:solidFill>
                  <a:schemeClr val="bg1"/>
                </a:solidFill>
              </a:rPr>
              <a:t>/users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api</a:t>
            </a:r>
            <a:r>
              <a:rPr lang="en-US" dirty="0">
                <a:solidFill>
                  <a:schemeClr val="bg1"/>
                </a:solidFill>
              </a:rPr>
              <a:t>/medications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 err="1">
                <a:solidFill>
                  <a:schemeClr val="bg1"/>
                </a:solidFill>
              </a:rPr>
              <a:t>api</a:t>
            </a:r>
            <a:r>
              <a:rPr lang="en-US" dirty="0">
                <a:solidFill>
                  <a:schemeClr val="bg1"/>
                </a:solidFill>
              </a:rPr>
              <a:t>/drugs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C64F1D-C683-B89C-2599-F35E4BE1D178}"/>
              </a:ext>
            </a:extLst>
          </p:cNvPr>
          <p:cNvSpPr txBox="1"/>
          <p:nvPr/>
        </p:nvSpPr>
        <p:spPr>
          <a:xfrm>
            <a:off x="3449494" y="4106392"/>
            <a:ext cx="7693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Authenticated sessions with express-session</a:t>
            </a:r>
          </a:p>
        </p:txBody>
      </p:sp>
    </p:spTree>
    <p:extLst>
      <p:ext uri="{BB962C8B-B14F-4D97-AF65-F5344CB8AC3E}">
        <p14:creationId xmlns:p14="http://schemas.microsoft.com/office/powerpoint/2010/main" val="465836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9B1ED-4D78-65EC-0579-DA9E41D7C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807194"/>
            <a:ext cx="5595921" cy="703142"/>
          </a:xfrm>
        </p:spPr>
        <p:txBody>
          <a:bodyPr anchor="b"/>
          <a:lstStyle/>
          <a:p>
            <a:r>
              <a:rPr lang="en-US" sz="4000" dirty="0"/>
              <a:t>Database Schema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1EAA32-913D-25AC-CC36-C39DAE7FE6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1185" y="1915511"/>
            <a:ext cx="6705814" cy="3715932"/>
          </a:xfrm>
        </p:spPr>
        <p:txBody>
          <a:bodyPr/>
          <a:lstStyle/>
          <a:p>
            <a:r>
              <a:rPr lang="en-US" dirty="0"/>
              <a:t>Users Table: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Id, username, </a:t>
            </a:r>
            <a:r>
              <a:rPr lang="en-US" sz="2000" dirty="0" err="1">
                <a:latin typeface="+mn-lt"/>
              </a:rPr>
              <a:t>password_hash</a:t>
            </a:r>
            <a:endParaRPr lang="en-US" sz="2000" dirty="0">
              <a:latin typeface="+mn-lt"/>
            </a:endParaRPr>
          </a:p>
          <a:p>
            <a:endParaRPr lang="en-US" dirty="0"/>
          </a:p>
          <a:p>
            <a:r>
              <a:rPr lang="en-US" dirty="0"/>
              <a:t>Medications Table: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+mn-lt"/>
              </a:rPr>
              <a:t>med_id</a:t>
            </a:r>
            <a:r>
              <a:rPr lang="en-US" sz="2000" dirty="0">
                <a:latin typeface="+mn-lt"/>
              </a:rPr>
              <a:t>, name, </a:t>
            </a:r>
            <a:r>
              <a:rPr lang="en-US" sz="2000" dirty="0" err="1">
                <a:latin typeface="+mn-lt"/>
              </a:rPr>
              <a:t>generic_name</a:t>
            </a:r>
            <a:r>
              <a:rPr lang="en-US" sz="2000" dirty="0">
                <a:latin typeface="+mn-lt"/>
              </a:rPr>
              <a:t>, dosage</a:t>
            </a:r>
          </a:p>
          <a:p>
            <a:endParaRPr lang="en-US" dirty="0"/>
          </a:p>
          <a:p>
            <a:r>
              <a:rPr lang="en-US" dirty="0"/>
              <a:t>Illicit Drugs Table: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+mn-lt"/>
              </a:rPr>
              <a:t>drug_id</a:t>
            </a:r>
            <a:r>
              <a:rPr lang="en-US" sz="2000" dirty="0">
                <a:latin typeface="+mn-lt"/>
              </a:rPr>
              <a:t>, name, description	</a:t>
            </a:r>
          </a:p>
        </p:txBody>
      </p:sp>
    </p:spTree>
    <p:extLst>
      <p:ext uri="{BB962C8B-B14F-4D97-AF65-F5344CB8AC3E}">
        <p14:creationId xmlns:p14="http://schemas.microsoft.com/office/powerpoint/2010/main" val="866310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348845-3852-D4E6-EF42-8024EAC0E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61428"/>
            <a:ext cx="8399552" cy="652062"/>
          </a:xfrm>
        </p:spPr>
        <p:txBody>
          <a:bodyPr/>
          <a:lstStyle/>
          <a:p>
            <a:r>
              <a:rPr lang="en-US" dirty="0"/>
              <a:t>Flowchart – User Interaction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20CC2E-195C-C562-59D8-093B56AEB67B}"/>
              </a:ext>
            </a:extLst>
          </p:cNvPr>
          <p:cNvSpPr txBox="1"/>
          <p:nvPr/>
        </p:nvSpPr>
        <p:spPr>
          <a:xfrm>
            <a:off x="2528789" y="1816188"/>
            <a:ext cx="256662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Login Page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API Auth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Session Created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Redirect to Dashboard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683F10-BDC1-B00F-1AFC-A54BDF859E49}"/>
              </a:ext>
            </a:extLst>
          </p:cNvPr>
          <p:cNvSpPr txBox="1"/>
          <p:nvPr/>
        </p:nvSpPr>
        <p:spPr>
          <a:xfrm>
            <a:off x="6408157" y="1816187"/>
            <a:ext cx="29628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Select BMI / Meds / Drugs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Fetch from API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Render on Page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71C660A-7F10-DBF0-983E-C153BE2E2959}"/>
              </a:ext>
            </a:extLst>
          </p:cNvPr>
          <p:cNvSpPr/>
          <p:nvPr/>
        </p:nvSpPr>
        <p:spPr>
          <a:xfrm>
            <a:off x="3525170" y="1866637"/>
            <a:ext cx="605396" cy="277473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A51D463-6075-9C55-05D3-412401E03C42}"/>
              </a:ext>
            </a:extLst>
          </p:cNvPr>
          <p:cNvSpPr/>
          <p:nvPr/>
        </p:nvSpPr>
        <p:spPr>
          <a:xfrm>
            <a:off x="3209860" y="2421583"/>
            <a:ext cx="1204485" cy="277473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9CC7680-DD54-8D51-77C0-6A96E809AADE}"/>
              </a:ext>
            </a:extLst>
          </p:cNvPr>
          <p:cNvSpPr/>
          <p:nvPr/>
        </p:nvSpPr>
        <p:spPr>
          <a:xfrm>
            <a:off x="3310759" y="2970223"/>
            <a:ext cx="983768" cy="277473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E521AF1-3F8D-CBB0-5730-E1178DCACCE5}"/>
              </a:ext>
            </a:extLst>
          </p:cNvPr>
          <p:cNvSpPr/>
          <p:nvPr/>
        </p:nvSpPr>
        <p:spPr>
          <a:xfrm>
            <a:off x="2907162" y="3499944"/>
            <a:ext cx="1841412" cy="328649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2848A96-62A2-DA46-2CE4-465493098E81}"/>
              </a:ext>
            </a:extLst>
          </p:cNvPr>
          <p:cNvSpPr/>
          <p:nvPr/>
        </p:nvSpPr>
        <p:spPr>
          <a:xfrm>
            <a:off x="2648607" y="4054892"/>
            <a:ext cx="2371134" cy="321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EAFB116-0C12-B71A-D82C-B4976659DE2A}"/>
              </a:ext>
            </a:extLst>
          </p:cNvPr>
          <p:cNvSpPr/>
          <p:nvPr/>
        </p:nvSpPr>
        <p:spPr>
          <a:xfrm>
            <a:off x="7586892" y="1866637"/>
            <a:ext cx="605396" cy="277473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3084FA6-EEB9-E0BC-854E-52036712FF18}"/>
              </a:ext>
            </a:extLst>
          </p:cNvPr>
          <p:cNvSpPr/>
          <p:nvPr/>
        </p:nvSpPr>
        <p:spPr>
          <a:xfrm>
            <a:off x="6539537" y="2421583"/>
            <a:ext cx="2724281" cy="277473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F17676F-E4B2-069D-43BC-D14128385037}"/>
              </a:ext>
            </a:extLst>
          </p:cNvPr>
          <p:cNvSpPr/>
          <p:nvPr/>
        </p:nvSpPr>
        <p:spPr>
          <a:xfrm>
            <a:off x="7113401" y="2970223"/>
            <a:ext cx="1545021" cy="277473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6C29838-3736-C119-755E-4077988E7C3D}"/>
              </a:ext>
            </a:extLst>
          </p:cNvPr>
          <p:cNvSpPr/>
          <p:nvPr/>
        </p:nvSpPr>
        <p:spPr>
          <a:xfrm>
            <a:off x="7031420" y="3499944"/>
            <a:ext cx="1702676" cy="277473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6321E99-D605-DDB3-A330-39EF806457D3}"/>
              </a:ext>
            </a:extLst>
          </p:cNvPr>
          <p:cNvCxnSpPr>
            <a:cxnSpLocks/>
          </p:cNvCxnSpPr>
          <p:nvPr/>
        </p:nvCxnSpPr>
        <p:spPr>
          <a:xfrm>
            <a:off x="3796337" y="2150418"/>
            <a:ext cx="0" cy="201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286B109-A04B-9CED-94AF-7E779B7A83A6}"/>
              </a:ext>
            </a:extLst>
          </p:cNvPr>
          <p:cNvCxnSpPr>
            <a:cxnSpLocks/>
          </p:cNvCxnSpPr>
          <p:nvPr/>
        </p:nvCxnSpPr>
        <p:spPr>
          <a:xfrm>
            <a:off x="3803694" y="2699056"/>
            <a:ext cx="0" cy="201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8060CD5-1023-1E4B-9808-544902BC8F8A}"/>
              </a:ext>
            </a:extLst>
          </p:cNvPr>
          <p:cNvCxnSpPr>
            <a:cxnSpLocks/>
          </p:cNvCxnSpPr>
          <p:nvPr/>
        </p:nvCxnSpPr>
        <p:spPr>
          <a:xfrm>
            <a:off x="3791082" y="3834900"/>
            <a:ext cx="0" cy="201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6404BCC-7F32-356C-4F40-4133AABB9F4C}"/>
              </a:ext>
            </a:extLst>
          </p:cNvPr>
          <p:cNvCxnSpPr>
            <a:cxnSpLocks/>
          </p:cNvCxnSpPr>
          <p:nvPr/>
        </p:nvCxnSpPr>
        <p:spPr>
          <a:xfrm>
            <a:off x="3796337" y="3247696"/>
            <a:ext cx="0" cy="201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C17D4EC-2F0D-F30B-1230-90ABFB93C9C8}"/>
              </a:ext>
            </a:extLst>
          </p:cNvPr>
          <p:cNvCxnSpPr>
            <a:cxnSpLocks/>
          </p:cNvCxnSpPr>
          <p:nvPr/>
        </p:nvCxnSpPr>
        <p:spPr>
          <a:xfrm>
            <a:off x="3796337" y="2156724"/>
            <a:ext cx="0" cy="201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7F705F2-7ADB-9568-11C9-1B74C32E03C3}"/>
              </a:ext>
            </a:extLst>
          </p:cNvPr>
          <p:cNvCxnSpPr>
            <a:cxnSpLocks/>
          </p:cNvCxnSpPr>
          <p:nvPr/>
        </p:nvCxnSpPr>
        <p:spPr>
          <a:xfrm>
            <a:off x="7903779" y="2699056"/>
            <a:ext cx="0" cy="201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390300A-19E2-F040-8DD8-94261C1D3AB2}"/>
              </a:ext>
            </a:extLst>
          </p:cNvPr>
          <p:cNvCxnSpPr>
            <a:cxnSpLocks/>
          </p:cNvCxnSpPr>
          <p:nvPr/>
        </p:nvCxnSpPr>
        <p:spPr>
          <a:xfrm>
            <a:off x="7903779" y="2150418"/>
            <a:ext cx="0" cy="201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915C937-A512-EFE7-D301-9FAD348FC8B1}"/>
              </a:ext>
            </a:extLst>
          </p:cNvPr>
          <p:cNvCxnSpPr>
            <a:cxnSpLocks/>
          </p:cNvCxnSpPr>
          <p:nvPr/>
        </p:nvCxnSpPr>
        <p:spPr>
          <a:xfrm>
            <a:off x="7903779" y="3247696"/>
            <a:ext cx="0" cy="201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555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462D7-27D2-94DC-1264-B7922668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33" y="964609"/>
            <a:ext cx="10571734" cy="1160145"/>
          </a:xfrm>
        </p:spPr>
        <p:txBody>
          <a:bodyPr/>
          <a:lstStyle/>
          <a:p>
            <a:r>
              <a:rPr lang="en-US" dirty="0"/>
              <a:t>Feature Highlights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CBF3E-448E-A003-CF7A-499A2336CBBD}"/>
              </a:ext>
            </a:extLst>
          </p:cNvPr>
          <p:cNvSpPr txBox="1"/>
          <p:nvPr/>
        </p:nvSpPr>
        <p:spPr>
          <a:xfrm>
            <a:off x="4048585" y="2011680"/>
            <a:ext cx="57638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BMI Calculator using US Imperial Units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Alphabetized medication and drug directories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Export any section as a printable PDF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Responsive UI for desktop view</a:t>
            </a:r>
          </a:p>
        </p:txBody>
      </p:sp>
    </p:spTree>
    <p:extLst>
      <p:ext uri="{BB962C8B-B14F-4D97-AF65-F5344CB8AC3E}">
        <p14:creationId xmlns:p14="http://schemas.microsoft.com/office/powerpoint/2010/main" val="4130254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21C18C4A-EC5D-2A92-B45E-8EDBE44F5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079" y="688041"/>
            <a:ext cx="6275416" cy="1828800"/>
          </a:xfrm>
        </p:spPr>
        <p:txBody>
          <a:bodyPr/>
          <a:lstStyle/>
          <a:p>
            <a:r>
              <a:rPr lang="en-US" dirty="0"/>
              <a:t>UI Previews</a:t>
            </a:r>
          </a:p>
        </p:txBody>
      </p:sp>
      <p:pic>
        <p:nvPicPr>
          <p:cNvPr id="9" name="Picture 8" descr="A screenshot of a login screen">
            <a:extLst>
              <a:ext uri="{FF2B5EF4-FFF2-40B4-BE49-F238E27FC236}">
                <a16:creationId xmlns:a16="http://schemas.microsoft.com/office/drawing/2014/main" id="{F60A7F9A-D142-8488-B38F-89F15F654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393" y="1545019"/>
            <a:ext cx="4195114" cy="2132831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6034D7-6CD1-9B81-2F35-342EC2529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206" y="1545019"/>
            <a:ext cx="4283401" cy="2182774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C9B97B-D151-55DD-CCA3-87A071CAC8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355" y="4147924"/>
            <a:ext cx="3611880" cy="1833528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F0B641-1D16-D11D-6FA8-D79286E646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0337" y="4147925"/>
            <a:ext cx="3611881" cy="1841268"/>
          </a:xfrm>
          <a:prstGeom prst="rect">
            <a:avLst/>
          </a:prstGeom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3F9407-4832-9DCD-1C39-AA5A09E85B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4147924"/>
            <a:ext cx="3611881" cy="18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896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90817E-5D17-45A5-8335-4C95D1C2A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4" y="621973"/>
            <a:ext cx="10569634" cy="1801793"/>
          </a:xfrm>
        </p:spPr>
        <p:txBody>
          <a:bodyPr/>
          <a:lstStyle/>
          <a:p>
            <a:r>
              <a:rPr lang="en-US" dirty="0"/>
              <a:t>Challenges &amp; Lessons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130C8D7-5054-B89C-FA2C-E2638FFEA6AB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11183" y="2135777"/>
            <a:ext cx="8189126" cy="380782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Managing form validation and error feedback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SQL errors from duplication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Integrating PDF export from DOM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Maintaining clean structure between API + UI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83421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5A7019F-FB8F-0842-186B-1C366F52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2"/>
            <a:ext cx="6400800" cy="182880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F3E440-2B4E-E677-FB6B-084483381663}"/>
              </a:ext>
            </a:extLst>
          </p:cNvPr>
          <p:cNvSpPr txBox="1"/>
          <p:nvPr/>
        </p:nvSpPr>
        <p:spPr>
          <a:xfrm>
            <a:off x="862149" y="1698171"/>
            <a:ext cx="749154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Built for efficiency and clarity in medical reference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Great for solo developers seeking full-stack project experience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Future improvements: Mobile view, search bar, dark mode</a:t>
            </a:r>
          </a:p>
        </p:txBody>
      </p:sp>
    </p:spTree>
    <p:extLst>
      <p:ext uri="{BB962C8B-B14F-4D97-AF65-F5344CB8AC3E}">
        <p14:creationId xmlns:p14="http://schemas.microsoft.com/office/powerpoint/2010/main" val="606303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21C18C4A-EC5D-2A92-B45E-8EDBE44F5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4" y="621973"/>
            <a:ext cx="7309086" cy="1828800"/>
          </a:xfrm>
        </p:spPr>
        <p:txBody>
          <a:bodyPr/>
          <a:lstStyle/>
          <a:p>
            <a:r>
              <a:rPr lang="en-US" dirty="0"/>
              <a:t>Thank You!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48C218-5E53-0A3B-EA33-03E568DB1AB7}"/>
              </a:ext>
            </a:extLst>
          </p:cNvPr>
          <p:cNvSpPr txBox="1"/>
          <p:nvPr/>
        </p:nvSpPr>
        <p:spPr>
          <a:xfrm>
            <a:off x="764177" y="1652451"/>
            <a:ext cx="84386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GitHub Repo: https://github.com/Marqm713/MAid-App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Designed and Built by Marques McGaughy</a:t>
            </a:r>
          </a:p>
        </p:txBody>
      </p:sp>
    </p:spTree>
    <p:extLst>
      <p:ext uri="{BB962C8B-B14F-4D97-AF65-F5344CB8AC3E}">
        <p14:creationId xmlns:p14="http://schemas.microsoft.com/office/powerpoint/2010/main" val="244063476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raining-presentation">
      <a:dk1>
        <a:srgbClr val="000000"/>
      </a:dk1>
      <a:lt1>
        <a:srgbClr val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Custom 12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3460604_win32_SL_V10" id="{99B34821-6204-44CE-8DD7-2088F7B07FF3}" vid="{E244DE33-B49D-4797-B149-ADA6E5DF59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7C52C5-6F65-4D42-B855-A3283C55581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5B6D968-3BA5-45CA-AFA4-01F84FB04F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54E976-D9B8-49D6-BB1E-30B410663C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{FAEF3F10-8A95-4341-9CFD-694DC2D03AFD}tf03460604_win32</Template>
  <TotalTime>75</TotalTime>
  <Words>379</Words>
  <Application>Microsoft Office PowerPoint</Application>
  <PresentationFormat>Widescreen</PresentationFormat>
  <Paragraphs>114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Custom</vt:lpstr>
      <vt:lpstr>MAid app</vt:lpstr>
      <vt:lpstr>Introduction</vt:lpstr>
      <vt:lpstr>PowerPoint Presentation</vt:lpstr>
      <vt:lpstr>PowerPoint Presentation</vt:lpstr>
      <vt:lpstr>System Architecture</vt:lpstr>
      <vt:lpstr>Database Schema</vt:lpstr>
      <vt:lpstr>Flowchart – User Interaction</vt:lpstr>
      <vt:lpstr>Feature Highlights</vt:lpstr>
      <vt:lpstr>UI Previews</vt:lpstr>
      <vt:lpstr>Challenges &amp; Lessons</vt:lpstr>
      <vt:lpstr>Conclusion</vt:lpstr>
      <vt:lpstr>Thank You!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Marques McGaughy</dc:creator>
  <cp:lastModifiedBy>maww11 ytrred</cp:lastModifiedBy>
  <cp:revision>1</cp:revision>
  <dcterms:created xsi:type="dcterms:W3CDTF">2025-04-30T17:03:39Z</dcterms:created>
  <dcterms:modified xsi:type="dcterms:W3CDTF">2025-04-30T18:18:47Z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